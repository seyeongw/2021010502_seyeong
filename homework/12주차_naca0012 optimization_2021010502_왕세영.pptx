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72" r:id="rId3"/>
    <p:sldId id="275" r:id="rId4"/>
    <p:sldId id="269" r:id="rId5"/>
    <p:sldId id="271" r:id="rId6"/>
    <p:sldId id="274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A4D789-788B-4BE7-843E-470BD3F6A62B}" v="11" dt="2025-11-05T18:07:32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4B3EC-0D33-4329-B381-66DB67A6A5F0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0ED7C-E5DB-4C9C-9325-1E9DD36E691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048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B2A49-4194-DEC1-A0E9-C196892F3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7B035C-2D3C-DF40-F216-DC01F841A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B91EA6-6EAC-DDE6-A9C5-F1E52F65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65D372-6590-C999-EA7D-C9985C81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E30ED6-5FB0-B5CE-F316-88556E86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312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C5CBB-AD39-14F0-FCF8-620D75460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F40716-B376-732E-B2DA-EBECFD18A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5F51AB-B047-B32D-3E01-3525C2727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52C9DB-E112-5B48-2324-5FFF3983A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C8818F-271B-95EC-DD0D-7AF528EC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80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ACA494-5A95-655A-AE5F-073F3F8B4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4BD47F-81FD-52E1-972F-7B7E6AFD9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A79A0E-5C5D-21C1-B287-E8E5413B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87E0DA-C84B-1459-717E-20C71025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07449B-846B-64FD-4159-9060288C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17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0D186-BD64-ABE3-85D5-5C22D8AF5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15C69C-6127-2858-4E30-515CF0312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C4EF1A-4581-8E79-2EC2-570233AE0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FA78B0-5CD1-EDA6-CD92-69F1507C0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673C2D-8189-7D55-3A16-11EA307A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425FE4-B906-76FA-5F6F-6B2E2115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25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D8C19-64B5-7C0A-62AA-93F79E52D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932E77-4FF5-778D-4D6C-7C55D8A46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61E8AD-7312-87DA-817C-CD9A0CF0F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49089C-AB21-7670-D867-D19D3551B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9C6C65-102F-E818-FE1A-F7979CABE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6D016D-8A5D-06DB-4C82-7BB1CD24B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44C24C-546C-DD07-1180-C2512ADAD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C8A73C-9AC4-7C0A-8FBA-367F36642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459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A1F09-890D-2978-F441-C5DC14C8B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EFA064D-795A-D999-9FA6-8B6334081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2AE382-6F3E-353A-E95A-C81B975C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6CE960-52EB-0C15-577D-7DFF694E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06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76B877-7D63-40DC-0720-ABC850B6E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1F6B5A-E7D2-47E8-DF0B-7BE27139E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1343D8-0612-85C5-F7A3-A033E8BD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9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6735A6-17AA-B691-8720-B06B9F351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C258F5-9304-CB2F-6B2B-2CA52FD69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BC24F9-1E04-0390-4540-20DB70C9B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A576AF-DEC8-9E5C-76E1-CF47E218A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B67DED-7ACA-073C-AF21-E79A59E7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ACED5A-6EBF-DDB0-A4F5-4DCD0684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19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74C60-FBAE-ED57-3DE0-720131081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A8B4D3C-8930-1F69-344D-FAE229316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A1243A-ADCC-0BA6-2105-C808A509E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683EE7-A46A-C894-F25E-73A989861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D7106C-FB2B-9587-0825-DAADB1C0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F3C54-F39C-ACBD-B465-33F499BF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449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2D46F-4034-6116-37CE-F5B9FE000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ECC487-16DB-3895-25EA-88F0E68BD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008111-A35E-3E00-7E44-FB6A2726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051AC0-72FE-01E9-98D9-54966551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F7D0C5-40BF-A3AB-FF3E-8D3027AA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751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FDE41C-7A6A-7DE2-027B-EB2029290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46B83C-2CBC-A29E-3ED2-2EA97691E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B5F02-C5D3-B4AF-9F61-1AB21F6D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5EEFD9-781F-5EC8-14D0-72B38B8C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90086C-60B3-036D-64E4-0EC1084E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379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22973C-F9AB-B74A-FA31-43D1CDB3F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EB83B2-69A4-8156-C283-653C81E05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787A8C-AC60-050F-DB49-724379CBC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867FC-7512-428F-9714-004E33894BE8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CB38B-20E8-DF0E-1E87-69226CA687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567267-4DE4-EE9E-E0AD-CB1704C02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72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5F630-4893-D7BE-673E-2C177BE717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유체 해석 실습 보고서</a:t>
            </a:r>
            <a:b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en-US" altLang="ko-KR" sz="53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NACA0012_Optimization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86429E-F93C-088D-3DAC-0E682B9A7F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2021010502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왕세영</a:t>
            </a:r>
          </a:p>
        </p:txBody>
      </p:sp>
    </p:spTree>
    <p:extLst>
      <p:ext uri="{BB962C8B-B14F-4D97-AF65-F5344CB8AC3E}">
        <p14:creationId xmlns:p14="http://schemas.microsoft.com/office/powerpoint/2010/main" val="1601514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4736291-AE6C-F7B2-7E6D-95BBB5333157}"/>
              </a:ext>
            </a:extLst>
          </p:cNvPr>
          <p:cNvSpPr txBox="1"/>
          <p:nvPr/>
        </p:nvSpPr>
        <p:spPr>
          <a:xfrm>
            <a:off x="0" y="0"/>
            <a:ext cx="6619336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opt_CD.py</a:t>
            </a:r>
            <a:r>
              <a:rPr lang="ko-KR" altLang="en-US" sz="2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2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2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항력 수렴 그래프 생성</a:t>
            </a:r>
            <a:r>
              <a:rPr lang="en-US" altLang="ko-KR" sz="2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</a:p>
          <a:p>
            <a:endParaRPr lang="en-US" altLang="ko-KR" sz="14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 코드는 수십 개의 결과 폴더를 자동으로 순회하며 최적화 진행 상황을 추적합니다</a:t>
            </a:r>
            <a:r>
              <a:rPr lang="en-US" altLang="ko-KR" sz="14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endParaRPr lang="ko-KR" altLang="en-US" sz="11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7C9527-8A4D-FB53-3000-C57DB5CA07F1}"/>
              </a:ext>
            </a:extLst>
          </p:cNvPr>
          <p:cNvSpPr txBox="1"/>
          <p:nvPr/>
        </p:nvSpPr>
        <p:spPr>
          <a:xfrm>
            <a:off x="6705286" y="1125334"/>
            <a:ext cx="54867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자동 폴더 탐색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for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루프를 이용해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DSN_001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부터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DSN_032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까지의 폴더 경로를 자동으로 생성하여 접근한다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 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CSV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파싱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각 폴더 내의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history_direct.csv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을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pandas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라이브러리로 읽어온다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데이터 추출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명령어를 사용해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해당 설계 단계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(DSN)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에서 수렴된 마지막 항력 계수만 뽑아낸다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데이터 저장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추출한 데이터를 엑셀 파일로 저장하여 원본 데이터를 보존한다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 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시각화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matplotlib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를 사용해 그래프를 그린다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13" name="그림 12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F08502-9520-D89C-CBED-4B143DDCD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6930"/>
            <a:ext cx="5486716" cy="577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953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A4695-1E45-7B58-9D55-8A1E43A8C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926605-320A-3D60-0003-9FB031E3FC1D}"/>
              </a:ext>
            </a:extLst>
          </p:cNvPr>
          <p:cNvSpPr txBox="1"/>
          <p:nvPr/>
        </p:nvSpPr>
        <p:spPr>
          <a:xfrm>
            <a:off x="0" y="0"/>
            <a:ext cx="5750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opt_Cp.py</a:t>
            </a:r>
            <a:r>
              <a:rPr lang="ko-KR" altLang="en-US" sz="2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sz="2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</a:t>
            </a:r>
            <a:r>
              <a:rPr lang="ko-KR" altLang="en-US" sz="2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압력 분포 및 형상 비교</a:t>
            </a:r>
            <a:r>
              <a:rPr lang="en-US" altLang="ko-KR" sz="2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</a:p>
          <a:p>
            <a:endParaRPr lang="en-US" altLang="ko-KR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 코드는 초기 형상과 최적 형상의 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차원 결과 파일을 읽어 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차원 단면 데이터를 추출하고 비교합니다</a:t>
            </a:r>
            <a:r>
              <a:rPr lang="en-US" altLang="ko-KR" sz="12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endParaRPr lang="ko-KR" altLang="en-US" sz="1200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BCA93-A09F-AAEB-9784-81F6769E5B48}"/>
              </a:ext>
            </a:extLst>
          </p:cNvPr>
          <p:cNvSpPr txBox="1"/>
          <p:nvPr/>
        </p:nvSpPr>
        <p:spPr>
          <a:xfrm>
            <a:off x="7010400" y="1086930"/>
            <a:ext cx="500332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PyVista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활용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파라뷰를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켜지 않고도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파이썬에서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vtu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파일을 직접 읽고 데이터를 조작하기 위해 </a:t>
            </a:r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pyvista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라이브러리를 사용했다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데이터 필터링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3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차원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메쉬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데이터에서 표면의 점과 그 점에서의 압력 계수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데이터를 추출한다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윗면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/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아랫면 분리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에어포일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그래프를 깔끔하게 그리기 위해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y &gt;= 0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조건으로 윗면과 아랫면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데이터를 분리하고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X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좌표 순서대로 정렬했다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이렇게 하지 않으면 그래프 선이 뒤엉키게 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서브플롯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생성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위쪽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(Cp):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공기역학 관례에 따라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Y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축을 반전하여 흡입력이 위로 가도록 그렸다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아래쪽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(Geometry):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에어포일의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실제 형상 비율이 왜곡되지 않도록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axis('equal')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옵션을 적용했다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51B5F4-5D9D-4919-D5EA-C4C9510FF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642" y="1086930"/>
            <a:ext cx="3275170" cy="577107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E8A40A6-BDA3-A601-F8C6-96B356856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529" y="1086930"/>
            <a:ext cx="3663350" cy="577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628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5B1F3-6153-D8AD-0B0C-82FDB6B9A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도표, 그래프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61AB0B-28E0-9A80-39BC-A7B460DE9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69" y="745793"/>
            <a:ext cx="7232887" cy="59175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0D3CE2-3BA6-458D-328D-85D9139645A5}"/>
              </a:ext>
            </a:extLst>
          </p:cNvPr>
          <p:cNvSpPr txBox="1"/>
          <p:nvPr/>
        </p:nvSpPr>
        <p:spPr>
          <a:xfrm>
            <a:off x="155275" y="92015"/>
            <a:ext cx="71656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최적화 이력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0E8AF5-7CF1-B8DC-A941-7F231C57A240}"/>
              </a:ext>
            </a:extLst>
          </p:cNvPr>
          <p:cNvSpPr txBox="1"/>
          <p:nvPr/>
        </p:nvSpPr>
        <p:spPr>
          <a:xfrm>
            <a:off x="7654505" y="745793"/>
            <a:ext cx="410617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X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축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(Evaluation):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최적화 과정에서 수행된 설계 변경 및 해석 횟수다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총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32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회의 반복 계산이 수행됐다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Y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축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(DRAG):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항력 계수</a:t>
            </a: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초기 상태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초기 형상에서의 항력 계수는 약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0.022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수준으로 높게 시작한다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이는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천음속에서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발생하는 강한 충격파 때문이다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탐색 과정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10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회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12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회 등에서 그래프가 튀는 현상은 최적화 알고리즘이 해를 찾는 과정에서 발생하는 자연스러운 탐색 과정이다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최종 결과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약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23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회 이후부터 그래프가 바닥에 수렴하며 안정화된다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최종 항력 계수는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0.002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수준으로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초기 대비 약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90%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이상 획기적인 항력 감소를 달성했다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9841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21E84-4D0D-69A6-70E9-B00757283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라인, 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79C7E6-B141-A2D8-293C-98C15A4BF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28" y="870649"/>
            <a:ext cx="4610423" cy="55490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124EC1-1F97-D16E-9E8E-7469FCBA72CE}"/>
              </a:ext>
            </a:extLst>
          </p:cNvPr>
          <p:cNvSpPr txBox="1"/>
          <p:nvPr/>
        </p:nvSpPr>
        <p:spPr>
          <a:xfrm>
            <a:off x="40257" y="0"/>
            <a:ext cx="7177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최적화 전후 공력 특성 및 형상 비교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3B19CF-BB77-7E2F-F39B-53B7A88E9C8C}"/>
              </a:ext>
            </a:extLst>
          </p:cNvPr>
          <p:cNvSpPr txBox="1"/>
          <p:nvPr/>
        </p:nvSpPr>
        <p:spPr>
          <a:xfrm>
            <a:off x="6142008" y="396815"/>
            <a:ext cx="554606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위쪽 그래프 </a:t>
            </a:r>
            <a:r>
              <a:rPr lang="en-US" altLang="ko-KR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(Cp </a:t>
            </a:r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분포</a:t>
            </a:r>
            <a:r>
              <a:rPr lang="en-US" altLang="ko-KR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</a:t>
            </a: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-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검은 점선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(NACA0012): x/c = 0.6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위치에서 압력 계수가 급격히 상승하는 수직 구간이 보인다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이것이 바로 강한 충격파이며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조파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항력의 주원인이다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초록 실선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(Optimization):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최적화 후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 충격파 구간이 사라지고 압력이 부드럽게 회복되는 것을 확인할 수 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이를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Shock-free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설계라고 하며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항력 감소의 직접적인 원인이다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아래쪽 그래프 </a:t>
            </a:r>
            <a:r>
              <a:rPr lang="en-US" altLang="ko-KR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(Airfoil Geometry)</a:t>
            </a: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-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검은 점선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기존의 대칭형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NACA 0012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형상이다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-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초록 실선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: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최적화된 형상이다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윗면이 납작해 것을 볼 수 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이는 유속이 너무 빨라져서 충격파가 생기는 충격파가 생기는 것을 막기 위해 곡률을 줄인 결과다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또한 전체적으로 약간의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캠버가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생겨 양력은 유지하면서 항력을 줄이는 방향으로 진화했다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9133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65B46-19A1-B126-55EA-EBA5F2F3E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3CF5D3-E87D-18ED-63F3-1BC263DCB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55" y="614822"/>
            <a:ext cx="4868381" cy="2727913"/>
          </a:xfrm>
          <a:prstGeom prst="rect">
            <a:avLst/>
          </a:prstGeom>
        </p:spPr>
      </p:pic>
      <p:pic>
        <p:nvPicPr>
          <p:cNvPr id="6" name="그림 5" descr="스크린샷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4E4FA2-2BC0-78C5-9460-0E7F738332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755" y="3692393"/>
            <a:ext cx="4868381" cy="26398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EFDDEB-970E-6AC3-E7D9-3AB981D46617}"/>
              </a:ext>
            </a:extLst>
          </p:cNvPr>
          <p:cNvSpPr txBox="1"/>
          <p:nvPr/>
        </p:nvSpPr>
        <p:spPr>
          <a:xfrm>
            <a:off x="598098" y="3342735"/>
            <a:ext cx="31170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그림 </a:t>
            </a:r>
            <a:r>
              <a:rPr lang="en-US" altLang="ko-KR" sz="1100" dirty="0"/>
              <a:t>1. </a:t>
            </a:r>
            <a:r>
              <a:rPr lang="ko-KR" altLang="en-US" sz="1100" dirty="0"/>
              <a:t>초기 형상 </a:t>
            </a:r>
            <a:r>
              <a:rPr lang="ko-KR" altLang="en-US" sz="1100" dirty="0" err="1"/>
              <a:t>압력장</a:t>
            </a:r>
            <a:endParaRPr lang="ko-KR" alt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40EEE7-DE8E-D70D-E598-25082EE2AA71}"/>
              </a:ext>
            </a:extLst>
          </p:cNvPr>
          <p:cNvSpPr txBox="1"/>
          <p:nvPr/>
        </p:nvSpPr>
        <p:spPr>
          <a:xfrm>
            <a:off x="598097" y="6349042"/>
            <a:ext cx="36403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그림 </a:t>
            </a:r>
            <a:r>
              <a:rPr lang="en-US" altLang="ko-KR" sz="1100" dirty="0"/>
              <a:t>2. </a:t>
            </a:r>
            <a:r>
              <a:rPr lang="ko-KR" altLang="en-US" sz="1100" dirty="0"/>
              <a:t>최종 형상 </a:t>
            </a:r>
            <a:r>
              <a:rPr lang="ko-KR" altLang="en-US" sz="1100" dirty="0" err="1"/>
              <a:t>압력장</a:t>
            </a:r>
            <a:endParaRPr lang="ko-KR" alt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AC20F5-94B2-3A31-8409-D8543B3EA44B}"/>
              </a:ext>
            </a:extLst>
          </p:cNvPr>
          <p:cNvSpPr txBox="1"/>
          <p:nvPr/>
        </p:nvSpPr>
        <p:spPr>
          <a:xfrm>
            <a:off x="143774" y="74762"/>
            <a:ext cx="5457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유동장</a:t>
            </a:r>
            <a:r>
              <a:rPr lang="ko-KR" altLang="en-US" sz="2800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가시화 비교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E1055A-2F75-AE81-4160-255DAB6AF54F}"/>
              </a:ext>
            </a:extLst>
          </p:cNvPr>
          <p:cNvSpPr txBox="1"/>
          <p:nvPr/>
        </p:nvSpPr>
        <p:spPr>
          <a:xfrm>
            <a:off x="6303032" y="597982"/>
            <a:ext cx="58889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그림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 (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초기 형상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):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에어포일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윗면에 저속과 고속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경계면 뒤쪽에 급격한 변화가 보인다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이것이 시각적으로 포착된 충격파다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그림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 (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최종 형상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):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윗면의 유동 색상 변화가 훨씬 부드러워졌다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날카로운 충격파가 사라지고 유동이 매끄럽게 흐르는 것을 확인할 수 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 가시화 결과는 앞서 본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그래프의 결과를 뒷받침한다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0622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2801</TotalTime>
  <Words>544</Words>
  <Application>Microsoft Office PowerPoint</Application>
  <PresentationFormat>와이드스크린</PresentationFormat>
  <Paragraphs>54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나눔스퀘어 네오 Bold</vt:lpstr>
      <vt:lpstr>맑은 고딕</vt:lpstr>
      <vt:lpstr>Arial</vt:lpstr>
      <vt:lpstr>Office 테마</vt:lpstr>
      <vt:lpstr>유체 해석 실습 보고서 (NACA0012_Optimization)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세영 왕</dc:creator>
  <cp:lastModifiedBy>세영 왕</cp:lastModifiedBy>
  <cp:revision>6</cp:revision>
  <dcterms:created xsi:type="dcterms:W3CDTF">2025-09-25T04:28:41Z</dcterms:created>
  <dcterms:modified xsi:type="dcterms:W3CDTF">2025-12-03T16:33:52Z</dcterms:modified>
</cp:coreProperties>
</file>