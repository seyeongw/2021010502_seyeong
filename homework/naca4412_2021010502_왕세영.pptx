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6" r:id="rId3"/>
    <p:sldId id="269" r:id="rId4"/>
    <p:sldId id="271" r:id="rId5"/>
    <p:sldId id="277" r:id="rId6"/>
    <p:sldId id="278" r:id="rId7"/>
    <p:sldId id="279" r:id="rId8"/>
    <p:sldId id="28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4D789-788B-4BE7-843E-470BD3F6A62B}" v="11" dt="2025-11-05T18:07:32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4B3EC-0D33-4329-B381-66DB67A6A5F0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0ED7C-E5DB-4C9C-9325-1E9DD36E69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04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B2A49-4194-DEC1-A0E9-C196892F3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7B035C-2D3C-DF40-F216-DC01F841A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B91EA6-6EAC-DDE6-A9C5-F1E52F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65D372-6590-C999-EA7D-C9985C81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0ED6-5FB0-B5CE-F316-88556E86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312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C5CBB-AD39-14F0-FCF8-620D7546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F40716-B376-732E-B2DA-EBECFD18A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F51AB-B047-B32D-3E01-3525C272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2C9DB-E112-5B48-2324-5FFF3983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C8818F-271B-95EC-DD0D-7AF528EC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80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CA494-5A95-655A-AE5F-073F3F8B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4BD47F-81FD-52E1-972F-7B7E6AFD9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A79A0E-5C5D-21C1-B287-E8E5413B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7E0DA-C84B-1459-717E-20C71025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7449B-846B-64FD-4159-9060288C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7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0D186-BD64-ABE3-85D5-5C22D8AF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15C69C-6127-2858-4E30-515CF0312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C4EF1A-4581-8E79-2EC2-570233AE0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FA78B0-5CD1-EDA6-CD92-69F1507C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673C2D-8189-7D55-3A16-11EA307A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425FE4-B906-76FA-5F6F-6B2E2115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5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D8C19-64B5-7C0A-62AA-93F79E52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932E77-4FF5-778D-4D6C-7C55D8A4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61E8AD-7312-87DA-817C-CD9A0CF0F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49089C-AB21-7670-D867-D19D3551B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9C6C65-102F-E818-FE1A-F7979CABE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6D016D-8A5D-06DB-4C82-7BB1CD24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44C24C-546C-DD07-1180-C2512ADA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C8A73C-9AC4-7C0A-8FBA-367F3664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45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A1F09-890D-2978-F441-C5DC14C8B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EFA064D-795A-D999-9FA6-8B633408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2AE382-6F3E-353A-E95A-C81B975C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6CE960-52EB-0C15-577D-7DFF694E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06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6B877-7D63-40DC-0720-ABC850B6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1F6B5A-E7D2-47E8-DF0B-7BE27139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1343D8-0612-85C5-F7A3-A033E8BD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9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735A6-17AA-B691-8720-B06B9F35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C258F5-9304-CB2F-6B2B-2CA52FD69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BC24F9-1E04-0390-4540-20DB70C9B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A576AF-DEC8-9E5C-76E1-CF47E218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B67DED-7ACA-073C-AF21-E79A59E7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ACED5A-6EBF-DDB0-A4F5-4DCD0684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19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74C60-FBAE-ED57-3DE0-72013108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8B4D3C-8930-1F69-344D-FAE229316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1243A-ADCC-0BA6-2105-C808A509E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683EE7-A46A-C894-F25E-73A98986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D7106C-FB2B-9587-0825-DAADB1C0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F3C54-F39C-ACBD-B465-33F499BF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449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2D46F-4034-6116-37CE-F5B9FE00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ECC487-16DB-3895-25EA-88F0E68BD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008111-A35E-3E00-7E44-FB6A2726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51AC0-72FE-01E9-98D9-54966551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F7D0C5-40BF-A3AB-FF3E-8D3027AA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75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FDE41C-7A6A-7DE2-027B-EB2029290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46B83C-2CBC-A29E-3ED2-2EA97691E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B5F02-C5D3-B4AF-9F61-1AB21F6D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5EEFD9-781F-5EC8-14D0-72B38B8C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90086C-60B3-036D-64E4-0EC1084E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37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22973C-F9AB-B74A-FA31-43D1CDB3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EB83B2-69A4-8156-C283-653C81E0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787A8C-AC60-050F-DB49-724379CBC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867FC-7512-428F-9714-004E33894BE8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CB38B-20E8-DF0E-1E87-69226CA68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67267-4DE4-EE9E-E0AD-CB1704C02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72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5F630-4893-D7BE-673E-2C177BE717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유체 해석 실습 보고서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en-US" altLang="ko-KR" sz="5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NACA4412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86429E-F93C-088D-3DAC-0E682B9A7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2021010502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왕세영</a:t>
            </a:r>
          </a:p>
        </p:txBody>
      </p:sp>
    </p:spTree>
    <p:extLst>
      <p:ext uri="{BB962C8B-B14F-4D97-AF65-F5344CB8AC3E}">
        <p14:creationId xmlns:p14="http://schemas.microsoft.com/office/powerpoint/2010/main" val="160151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64E4-5807-1D34-FE82-0FD697C4F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677D8A-8658-09EF-B094-4EB6A65BD741}"/>
              </a:ext>
            </a:extLst>
          </p:cNvPr>
          <p:cNvSpPr txBox="1"/>
          <p:nvPr/>
        </p:nvSpPr>
        <p:spPr>
          <a:xfrm>
            <a:off x="230037" y="207034"/>
            <a:ext cx="44569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mesh_NACA4412_turb</a:t>
            </a:r>
            <a:br>
              <a:rPr lang="en-US" altLang="ko-KR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endParaRPr lang="ko-KR" altLang="en-US" sz="28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E08315-9A73-B1F0-3381-514FBF59270D}"/>
              </a:ext>
            </a:extLst>
          </p:cNvPr>
          <p:cNvSpPr txBox="1"/>
          <p:nvPr/>
        </p:nvSpPr>
        <p:spPr>
          <a:xfrm>
            <a:off x="405441" y="1035170"/>
            <a:ext cx="92676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해당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메쉬는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SU2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에서 기본 제공하는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메쉬로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cfg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파일을 통한 해석 조건은 아래와 같다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Solver Type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RANS: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난류 모델과 함께 실험 데이터 검증에 적합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Turbulence Model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SST k–</a:t>
            </a:r>
            <a:r>
              <a:rPr lang="el-GR" altLang="ko-KR" dirty="0">
                <a:ea typeface="나눔스퀘어 네오 Bold" panose="00000800000000000000" pitchFamily="2" charset="-127"/>
              </a:rPr>
              <a:t>ω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Model: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고받음각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해석 시 가장 권장되는 모델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NASA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실험에서도 활용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-   Freestream Conditions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Mach Number: 0.09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Reynolds Number: 1.52 × 10⁶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Angle of Attack (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AoA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): 13.87°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Temperature: 297.78K</a:t>
            </a:r>
          </a:p>
        </p:txBody>
      </p:sp>
    </p:spTree>
    <p:extLst>
      <p:ext uri="{BB962C8B-B14F-4D97-AF65-F5344CB8AC3E}">
        <p14:creationId xmlns:p14="http://schemas.microsoft.com/office/powerpoint/2010/main" val="121916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B1F3-6153-D8AD-0B0C-82FDB6B9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0D3CE2-3BA6-458D-328D-85D9139645A5}"/>
              </a:ext>
            </a:extLst>
          </p:cNvPr>
          <p:cNvSpPr txBox="1"/>
          <p:nvPr/>
        </p:nvSpPr>
        <p:spPr>
          <a:xfrm>
            <a:off x="7735018" y="80513"/>
            <a:ext cx="1972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Cp_graph</a:t>
            </a:r>
            <a:endParaRPr lang="ko-KR" altLang="en-US" sz="28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E8AF5-7CF1-B8DC-A941-7F231C57A240}"/>
              </a:ext>
            </a:extLst>
          </p:cNvPr>
          <p:cNvSpPr txBox="1"/>
          <p:nvPr/>
        </p:nvSpPr>
        <p:spPr>
          <a:xfrm>
            <a:off x="7654505" y="745793"/>
            <a:ext cx="41061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SU2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결과는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suction peak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의 크기와 위치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윗면의 압력 회복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아랫면의 완만한 압력 형태 등에서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NASA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실험값과 전반적으로 잘 일치한다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특히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trailing edge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부근에서 두 값이 자연스럽게 수렴하며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전체적으로 높은 재현성을 보여준다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286D24-E76E-47E4-1998-370800342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2" y="342123"/>
            <a:ext cx="7499230" cy="600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41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21E84-4D0D-69A6-70E9-B0075728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B3FF6E-7ADD-A426-AB1A-95B125FC5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0" r="21378"/>
          <a:stretch>
            <a:fillRect/>
          </a:stretch>
        </p:blipFill>
        <p:spPr>
          <a:xfrm>
            <a:off x="0" y="0"/>
            <a:ext cx="665785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124EC1-1F97-D16E-9E8E-7469FCBA72CE}"/>
              </a:ext>
            </a:extLst>
          </p:cNvPr>
          <p:cNvSpPr txBox="1"/>
          <p:nvPr/>
        </p:nvSpPr>
        <p:spPr>
          <a:xfrm>
            <a:off x="40257" y="0"/>
            <a:ext cx="7177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Trailing Edge </a:t>
            </a:r>
            <a:r>
              <a:rPr lang="ko-KR" altLang="en-US" sz="280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유동박리</a:t>
            </a:r>
            <a:endParaRPr lang="ko-KR" altLang="en-US" sz="28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B19CF-BB77-7E2F-F39B-53B7A88E9C8C}"/>
              </a:ext>
            </a:extLst>
          </p:cNvPr>
          <p:cNvSpPr txBox="1"/>
          <p:nvPr/>
        </p:nvSpPr>
        <p:spPr>
          <a:xfrm>
            <a:off x="6657858" y="2945920"/>
            <a:ext cx="5346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Trailing Edge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부근의 격자 해상도가 부족해 실제로 발생하는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유동박리가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충분히 표현되지 못했다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경계층 박리 특성을 정확히 포착하기 위해서는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근방의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mesh refinement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가 추가적으로 필요하다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9133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3F457-A55F-C383-BD23-0BB5EFA14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0FD2D-54B3-013E-EDDE-9A524580B5C0}"/>
              </a:ext>
            </a:extLst>
          </p:cNvPr>
          <p:cNvSpPr txBox="1"/>
          <p:nvPr/>
        </p:nvSpPr>
        <p:spPr>
          <a:xfrm>
            <a:off x="235790" y="547815"/>
            <a:ext cx="5769594" cy="1680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37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Generated mesh 4412</a:t>
            </a:r>
            <a:br>
              <a:rPr lang="en-US" altLang="ko-KR" sz="37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</a:br>
            <a:endParaRPr lang="en-US" altLang="ko-KR" sz="3700" dirty="0"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577650-19E5-8F3C-DB25-C494F93868F0}"/>
              </a:ext>
            </a:extLst>
          </p:cNvPr>
          <p:cNvSpPr txBox="1"/>
          <p:nvPr/>
        </p:nvSpPr>
        <p:spPr>
          <a:xfrm>
            <a:off x="6186619" y="253042"/>
            <a:ext cx="5178960" cy="2881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앞서 사용한 </a:t>
            </a:r>
            <a:r>
              <a:rPr lang="ko-KR" altLang="en-US" sz="2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메쉬에서는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Trailing Edge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에서 발생하는 </a:t>
            </a:r>
            <a:r>
              <a:rPr lang="ko-KR" altLang="en-US" sz="2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유동박리가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제대로 관찰되지 않았다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해당 영역의 격자 해상도가 충분히 확보되지 않아 박리 특성을 포착할 수 없었던 것으로 판단된다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이러한 문제를 개선하기 위해 </a:t>
            </a:r>
            <a:r>
              <a:rPr lang="ko-KR" altLang="en-US" sz="2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주변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특히 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leading edge, trailing edge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경계층 형성 구간에 매우 촘촘한 격자를 재구성하였다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이를 위해 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NACA 4412 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 중 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121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개의 표면 포인트를 포함한 정밀한 좌표 세트를 선택하여 새로운 </a:t>
            </a:r>
            <a:r>
              <a:rPr lang="ko-KR" altLang="en-US" sz="2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메쉬를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생성하였으며</a:t>
            </a:r>
            <a:r>
              <a:rPr lang="en-US" altLang="ko-KR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2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주변 영역에는 다음과 같은 설정을 적용해 해상도를 강화하였다</a:t>
            </a:r>
            <a:endParaRPr lang="en-US" altLang="ko-KR" sz="2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20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표면 격자 분할 수 증가</a:t>
            </a:r>
            <a:endParaRPr lang="en-US" altLang="ko-KR" sz="20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endParaRPr lang="ko-KR" altLang="en-US" sz="2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Boundary layer </a:t>
            </a:r>
            <a:r>
              <a:rPr lang="ko-KR" altLang="en-US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방향으로 비선형 성장률</a:t>
            </a:r>
            <a:r>
              <a:rPr lang="en-US" altLang="ko-KR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(r &lt; 1.05) </a:t>
            </a:r>
            <a:r>
              <a:rPr lang="ko-KR" altLang="en-US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적용</a:t>
            </a:r>
            <a:endParaRPr lang="en-US" altLang="ko-KR" sz="20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endParaRPr lang="ko-KR" altLang="en-US" sz="2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Trailing Edge </a:t>
            </a:r>
            <a:r>
              <a:rPr lang="ko-KR" altLang="en-US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주변에 추가적인 </a:t>
            </a:r>
            <a:r>
              <a:rPr lang="en-US" altLang="ko-KR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refinement box </a:t>
            </a:r>
            <a:r>
              <a:rPr lang="ko-KR" altLang="en-US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배치</a:t>
            </a:r>
            <a:endParaRPr lang="en-US" altLang="ko-KR" sz="20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endParaRPr lang="ko-KR" altLang="en-US" sz="2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20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Inlet·Far-field</a:t>
            </a:r>
            <a:r>
              <a:rPr lang="en-US" altLang="ko-KR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2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영역은 비교적 완만한 증가율로 구성</a:t>
            </a:r>
            <a:endParaRPr lang="ko-KR" altLang="en-US" sz="2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endParaRPr lang="en-US" altLang="ko-KR" sz="16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 descr="스크린샷, 텍스트, 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D4F7E4-56C4-79FD-D781-289A0A27D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54" y="2748315"/>
            <a:ext cx="4819671" cy="3711146"/>
          </a:xfrm>
          <a:prstGeom prst="rect">
            <a:avLst/>
          </a:prstGeom>
        </p:spPr>
      </p:pic>
      <p:pic>
        <p:nvPicPr>
          <p:cNvPr id="5" name="그림 4" descr="그림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4F6E25-03DE-7C43-2F7F-3E2DDE6D4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394" y="3268725"/>
            <a:ext cx="5167185" cy="319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94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93868-EE9D-DFB9-C25D-CF890DDB7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C3B7BF0-4D70-50FE-A2BD-62842E214F71}"/>
              </a:ext>
            </a:extLst>
          </p:cNvPr>
          <p:cNvSpPr txBox="1"/>
          <p:nvPr/>
        </p:nvSpPr>
        <p:spPr>
          <a:xfrm>
            <a:off x="7735018" y="80513"/>
            <a:ext cx="1972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Cp_graph</a:t>
            </a:r>
            <a:endParaRPr lang="ko-KR" altLang="en-US" sz="28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BF9BD-22C1-AAE8-5F0E-20626EC2C306}"/>
              </a:ext>
            </a:extLst>
          </p:cNvPr>
          <p:cNvSpPr txBox="1"/>
          <p:nvPr/>
        </p:nvSpPr>
        <p:spPr>
          <a:xfrm>
            <a:off x="7654505" y="745793"/>
            <a:ext cx="410617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직접 생성한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fine mesh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 계산한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Cp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분포는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NASA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실험과 같은 전체적인 트렌드는 유지하지만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곡선이 전 구간에 걸쳐 심하게 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노이즈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가 끼어 있다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특히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leading edge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부근과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trailing edge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근처에서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Cp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값이 급격히 요동치고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chord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방향으로도 작은 스파이크들이 반복적으로 나타난다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</a:t>
            </a:r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메쉬를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매우 촘촘히 만들긴 했지만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격자 품질이 좋지 않거나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airfoil surface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위에 포인트가 </a:t>
            </a:r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불균일하게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몰려 있어서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수치 오차가 증폭된 결과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 볼 수 있다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이번 결과는 해상도 자체는 충분히 높지만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격자 품질과 배치가 최적화되지 않으면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Cp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분포가 튀고 실험과의 일치도도 오히려 나빠질 수 있다는 한계를 잘 보여주는 예라고 정리할 수 있다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4" name="그림 3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1B96F6-454C-82B2-AC2F-6898A0BC7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77350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2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0DFBC-0B57-EE68-69A6-550F13AE2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자연, 물, 모래언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DA6EBD-8752-7033-3197-D798A8275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66861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71E961-16B0-C593-7E48-DB418CB57E1F}"/>
              </a:ext>
            </a:extLst>
          </p:cNvPr>
          <p:cNvSpPr txBox="1"/>
          <p:nvPr/>
        </p:nvSpPr>
        <p:spPr>
          <a:xfrm>
            <a:off x="40257" y="0"/>
            <a:ext cx="7177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Trailing Edge </a:t>
            </a:r>
            <a:r>
              <a:rPr lang="ko-KR" altLang="en-US" sz="280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유동박리</a:t>
            </a:r>
            <a:endParaRPr lang="ko-KR" altLang="en-US" sz="28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F40AF-588C-EF8C-B45E-3C589DC937A5}"/>
              </a:ext>
            </a:extLst>
          </p:cNvPr>
          <p:cNvSpPr txBox="1"/>
          <p:nvPr/>
        </p:nvSpPr>
        <p:spPr>
          <a:xfrm>
            <a:off x="6668616" y="1428452"/>
            <a:ext cx="53465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생성한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메쉬에서는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Trailing Edge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주변의 경계층 박리가 명확하게 나타났다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기존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SU2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메쉬에서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분명히 관찰되지 않았던 현상으로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표면 근처 격자 간격을 줄이고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TE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주변을 더욱 조밀하게 구성한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mesh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설정이 실제 유동 구조를 더 정확히 포착한 결과로 볼 수 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특히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낮은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조건과 높은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AOA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조건에서는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근처에서 박리가 자연스럽게 발생하는데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생성메쉬는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실험적 유동 특성과 일치하는 패턴을 형성하였다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결론적으로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고밀도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생성메쉬가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유동 박리와 재순환 구조를 충분히 재현할 수 있음을 증명하며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</a:t>
            </a: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향후 압력계수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정확도 향상을 위한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메쉬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품질 개선의 중요한 기반 요소가 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2472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EDFD-4682-3829-71BA-E42B31F5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자연, 스크린샷, 무지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BA4419-92DB-FE7A-4F2E-D68280AD9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81"/>
          <a:stretch>
            <a:fillRect/>
          </a:stretch>
        </p:blipFill>
        <p:spPr>
          <a:xfrm>
            <a:off x="5924632" y="0"/>
            <a:ext cx="3866137" cy="6858000"/>
          </a:xfrm>
          <a:prstGeom prst="rect">
            <a:avLst/>
          </a:prstGeom>
        </p:spPr>
      </p:pic>
      <p:pic>
        <p:nvPicPr>
          <p:cNvPr id="8" name="그림 7" descr="스크린샷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C3F1B3-81A1-97D1-334D-874FCAF44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94"/>
          <a:stretch>
            <a:fillRect/>
          </a:stretch>
        </p:blipFill>
        <p:spPr>
          <a:xfrm>
            <a:off x="2909455" y="0"/>
            <a:ext cx="3015177" cy="6858000"/>
          </a:xfrm>
          <a:prstGeom prst="rect">
            <a:avLst/>
          </a:prstGeom>
        </p:spPr>
      </p:pic>
      <p:pic>
        <p:nvPicPr>
          <p:cNvPr id="5" name="그림 4" descr="스크린샷, 자연, 무지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B26AAD-4FB0-D29D-F7C9-2519D89B8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31"/>
          <a:stretch>
            <a:fillRect/>
          </a:stretch>
        </p:blipFill>
        <p:spPr>
          <a:xfrm>
            <a:off x="0" y="0"/>
            <a:ext cx="290945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63312C-B84A-9532-E2CD-82977D6AEFEC}"/>
              </a:ext>
            </a:extLst>
          </p:cNvPr>
          <p:cNvSpPr txBox="1"/>
          <p:nvPr/>
        </p:nvSpPr>
        <p:spPr>
          <a:xfrm>
            <a:off x="40257" y="0"/>
            <a:ext cx="7177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Time</a:t>
            </a:r>
            <a:r>
              <a:rPr lang="ko-KR" altLang="en-US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domain</a:t>
            </a:r>
            <a:endParaRPr lang="ko-KR" altLang="en-US" sz="28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29BF8B-289E-94A4-51AA-78103D9367F1}"/>
              </a:ext>
            </a:extLst>
          </p:cNvPr>
          <p:cNvSpPr txBox="1"/>
          <p:nvPr/>
        </p:nvSpPr>
        <p:spPr>
          <a:xfrm>
            <a:off x="9790769" y="2087593"/>
            <a:ext cx="24012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Time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domain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해석에서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분리 거품은 시간에 따라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커졌다가 작아지는 비정상적 유동 구조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를 보였으며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난류 전단층의 주기적 와류 형성에 의한 자연스러운 </a:t>
            </a:r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unsteady separation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195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3331</TotalTime>
  <Words>500</Words>
  <Application>Microsoft Office PowerPoint</Application>
  <PresentationFormat>와이드스크린</PresentationFormat>
  <Paragraphs>45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나눔스퀘어 네오 Bold</vt:lpstr>
      <vt:lpstr>맑은 고딕</vt:lpstr>
      <vt:lpstr>Arial</vt:lpstr>
      <vt:lpstr>Office 테마</vt:lpstr>
      <vt:lpstr>유체 해석 실습 보고서 (NACA4412)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세영 왕</dc:creator>
  <cp:lastModifiedBy>세영 왕</cp:lastModifiedBy>
  <cp:revision>10</cp:revision>
  <dcterms:created xsi:type="dcterms:W3CDTF">2025-09-25T04:28:41Z</dcterms:created>
  <dcterms:modified xsi:type="dcterms:W3CDTF">2025-12-05T23:26:34Z</dcterms:modified>
</cp:coreProperties>
</file>